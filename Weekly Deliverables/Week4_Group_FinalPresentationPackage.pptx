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B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India</c:v>
                </c:pt>
                <c:pt idx="1">
                  <c:v>United States</c:v>
                </c:pt>
                <c:pt idx="2">
                  <c:v>Ghana</c:v>
                </c:pt>
                <c:pt idx="3">
                  <c:v>Nigeria</c:v>
                </c:pt>
                <c:pt idx="4">
                  <c:v>Pakistan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4617</c:v>
                </c:pt>
                <c:pt idx="1">
                  <c:v>764</c:v>
                </c:pt>
                <c:pt idx="2">
                  <c:v>440</c:v>
                </c:pt>
                <c:pt idx="3">
                  <c:v>430</c:v>
                </c:pt>
                <c:pt idx="4">
                  <c:v>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A9-42D3-8FE0-0D9B7054B9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6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Cleaning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Rows (×100)</c:v>
                </c:pt>
                <c:pt idx="1">
                  <c:v>Columns</c:v>
                </c:pt>
                <c:pt idx="2">
                  <c:v>Missing Data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80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3C-4FAA-8899-3D2DD48DBC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Cleaning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Rows (×100)</c:v>
                </c:pt>
                <c:pt idx="1">
                  <c:v>Columns</c:v>
                </c:pt>
                <c:pt idx="2">
                  <c:v>Missing Data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14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3C-4FAA-8899-3D2DD48DB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67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HTHPi0kOmhothM8v2Y9X2Ts5rkGFRwa-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232C7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SLU-0106-DVT  ·  TEAM 21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Applicant Data Analytics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703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&amp; Internship Reflection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" y="4434840"/>
            <a:ext cx="14630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TEAM 21  |  Week 4 Deliverable  | 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5806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of exploration, cleaning, and dashboarding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admissions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Export to Actionable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three weeks, this project took our group through DePaul University's international admissions full analytics lifecycle — from understanding a messy, denormalized dataset to delivering a four-page interactive Power BI dashboard for recruitment leadership.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8163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7,543 rows across 80 columns; identified structure, gaps, and quality issues.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14116" y="389991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23317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054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281635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2044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66160" y="42976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 14 clean columns and 4,981 valid rows; cut missing values by 99.4%.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48756" y="389991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Shape 15"/>
          <p:cNvSpPr/>
          <p:nvPr/>
        </p:nvSpPr>
        <p:spPr>
          <a:xfrm>
            <a:off x="6217920" y="23317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5518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772" y="281635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35508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Build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0800" y="42976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4-page Power BI dashboard: Executive, Program, Geographic, Recruitment.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883396" y="389991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Shape 21"/>
          <p:cNvSpPr/>
          <p:nvPr/>
        </p:nvSpPr>
        <p:spPr>
          <a:xfrm>
            <a:off x="9052560" y="23317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98982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412" y="281635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52560" y="3520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18972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Reflection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235440" y="42976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findings into recommendations and reflected on the learning journey.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 &amp; EDA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4533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in the raw export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20574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Denormalized join of 3 source tables — evidenced by duplicate -2/-3 suffixed columns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of 80 columns (33.75%) were entirely empty (Citizenship, SEVIS_ID, Date_of_Birth…)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Reference_ID was not a unique key — 2,543 IDs repeated across multiple outreach events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formats throughout: phone numbers, country casing, raw timestamps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"Intake" field bundled program, degree, and term into a single unparsed string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03720" y="141732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804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BY APPLICANT VOLUME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040880" y="1920240"/>
          <a:ext cx="44805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94360" y="4983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3095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5074920"/>
            <a:ext cx="9921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≠ applicants. The dataset captures outreach events, not unique people — all applicant-level KPIs require deduplication by Reference_ID before any analysis.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Quality Improvement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996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15-step cleaning process turned noise into a working dataset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167128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→ 14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78206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retained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(82.5% reduction)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0" y="2167128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7,543 → 4,981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0" y="278206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rows kept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dedup &amp; cleanup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2167128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371,657 → 2,222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309360" y="278206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(99.4% reduction)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5256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44000" y="2167128"/>
            <a:ext cx="24231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144000" y="278206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final dataset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CORRECTIONS MADE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5760720" cy="18288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Recieved_At (raw timestamp)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B2F"/>
                          </a:solidFill>
                        </a:rPr>
                        <a:t>Admit_Date (ISO format, e.g. 2024-03-25)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Degree_Type — 100% empty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B2F"/>
                          </a:solidFill>
                        </a:rPr>
                        <a:t>Degree_Level — 15 clean values (MS, MBA, MA…)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"United states" / mixed casing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B2F"/>
                          </a:solidFill>
                        </a:rPr>
                        <a:t>Standardized: "United States"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178"/>
                          </a:solidFill>
                        </a:rPr>
                        <a:t>Phone: 9.20E+11 (scientific notation)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1B2F"/>
                          </a:solidFill>
                        </a:rPr>
                        <a:t>+91 XXXXX XXXXX (normalized)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58368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COMPARISON: BEFORE vs AFTER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6492240" y="3840480"/>
          <a:ext cx="52120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four-page dashboard built on the cleaned dataset (7,543 records, 5,000 unique applicants, May 2023–June 2025), connected through shared slicers and cross-filtering.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478024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49808" y="361188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trend line, source donut, college bar chart, date slicer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FF2FA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4448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47802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84448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Analysis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84448" y="361188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ranking, term-over-term columns, college × term matrix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19088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478024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19088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Analysis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419088" y="361188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world map, country table, top-10 bar chart, cross-filter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52560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FF2FA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53728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4" y="2478024"/>
            <a:ext cx="246888" cy="2468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3728" y="29260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253728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Analysis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253728" y="361188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chart, outcome bars, caller table, campaign slicer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94360" y="4709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DAX measures </a:t>
            </a: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 Applicants, Admission Rate, Slate Filled, Contacted, Follow Up, Missing Transcript, and more) recalculate live across all four pages from one underlying table.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 Action</a:t>
            </a:r>
            <a:endParaRPr lang="en-US" sz="3000" dirty="0"/>
          </a:p>
        </p:txBody>
      </p:sp>
      <p:pic>
        <p:nvPicPr>
          <p:cNvPr id="4" name="Image 0" descr="Executive Summary dashboard screensho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3120" y="1350000"/>
            <a:ext cx="5100000" cy="2065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120" y="3460820"/>
            <a:ext cx="5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KPI overview &amp; trend</a:t>
            </a:r>
            <a:endParaRPr lang="en-US" sz="1100" dirty="0"/>
          </a:p>
        </p:txBody>
      </p:sp>
      <p:pic>
        <p:nvPicPr>
          <p:cNvPr id="6" name="Image 1" descr="Program Analysis dashboard screensho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8880" y="1350000"/>
            <a:ext cx="5100000" cy="2065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8880" y="3460820"/>
            <a:ext cx="5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Analysis — demand ranking &amp; term trends</a:t>
            </a:r>
            <a:endParaRPr lang="en-US" sz="1100" dirty="0"/>
          </a:p>
        </p:txBody>
      </p:sp>
      <p:pic>
        <p:nvPicPr>
          <p:cNvPr id="8" name="Image 2" descr="Geographic Analysis dashboard screensho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3120" y="3968810"/>
            <a:ext cx="5100000" cy="20651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120" y="6079630"/>
            <a:ext cx="5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 — applicant concentration by country</a:t>
            </a:r>
            <a:endParaRPr lang="en-US" sz="1100" dirty="0"/>
          </a:p>
        </p:txBody>
      </p:sp>
      <p:pic>
        <p:nvPicPr>
          <p:cNvPr id="10" name="Image 3" descr="Recruitment Analysis dashboard screensho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78880" y="3968810"/>
            <a:ext cx="5100000" cy="20651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78880" y="6079630"/>
            <a:ext cx="51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Analysis — conversion funnel &amp; outreach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REPORT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&amp; Geographic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819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517904"/>
            <a:ext cx="3657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MS leads demand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2080" y="1517904"/>
            <a:ext cx="6263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1,080 applicants vs. 1,055 for Computer Science MS — steady across Fall and Winter, not just seasonal.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505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386584"/>
            <a:ext cx="3657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program is accelerating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12080" y="2386584"/>
            <a:ext cx="6263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applications roughly doubled term-over-term from 2023 to 2024 — a clear capacity-planning signal.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3192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255264"/>
            <a:ext cx="3657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College dominates the pipeline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3255264"/>
            <a:ext cx="6263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&amp; Digital Media draws 50.8% of first-choice applications vs. 33.5% for Kellstadt Business.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87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123944"/>
            <a:ext cx="3657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61% of the pipeline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12080" y="4123944"/>
            <a:ext cx="6263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4,617 of 7,543 applicants originate from India — a deep talent source, but also a concentration risk.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64240" cy="758952"/>
          </a:xfrm>
          <a:prstGeom prst="roundRect">
            <a:avLst>
              <a:gd name="adj" fmla="val 722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0566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992624"/>
            <a:ext cx="3657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is an emerging market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12080" y="4992624"/>
            <a:ext cx="62636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(440) and Nigeria (430) combined exceed the entire U.S. domestic applicant pool (764).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REPORT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Funnel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184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1,375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23160" y="161848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in "Follow up" status — engaged but not yet converted. The single largest yield opportunity.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900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299008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stalled on "Missing Transcript" — the largest single drop-off cause in the funnel.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36168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23160" y="436168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form completion rate — counselor follow-through is effective once an applicant engages.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373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95160" y="1719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counselors carry 99% of outreach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9951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Jagdeep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95160" y="2679192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2A346F"/>
          </a:solidFill>
          <a:ln/>
        </p:spPr>
      </p:sp>
      <p:sp>
        <p:nvSpPr>
          <p:cNvPr id="18" name="Shape 15"/>
          <p:cNvSpPr/>
          <p:nvPr/>
        </p:nvSpPr>
        <p:spPr>
          <a:xfrm>
            <a:off x="6995160" y="2679192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2898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9951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Swarna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95160" y="3639312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2A346F"/>
          </a:solidFill>
          <a:ln/>
        </p:spPr>
      </p:sp>
      <p:sp>
        <p:nvSpPr>
          <p:cNvPr id="22" name="Shape 19"/>
          <p:cNvSpPr/>
          <p:nvPr/>
        </p:nvSpPr>
        <p:spPr>
          <a:xfrm>
            <a:off x="6995160" y="3639312"/>
            <a:ext cx="2342618" cy="201168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38587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9516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995160" y="4599432"/>
            <a:ext cx="4023360" cy="201168"/>
          </a:xfrm>
          <a:prstGeom prst="roundRect">
            <a:avLst>
              <a:gd name="adj" fmla="val 18182"/>
            </a:avLst>
          </a:prstGeom>
          <a:solidFill>
            <a:srgbClr val="2A346F"/>
          </a:solidFill>
          <a:ln/>
        </p:spPr>
      </p:sp>
      <p:sp>
        <p:nvSpPr>
          <p:cNvPr id="26" name="Shape 23"/>
          <p:cNvSpPr/>
          <p:nvPr/>
        </p:nvSpPr>
        <p:spPr>
          <a:xfrm>
            <a:off x="6995160" y="4599432"/>
            <a:ext cx="1649867" cy="201168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</p:sp>
      <p:sp>
        <p:nvSpPr>
          <p:cNvPr id="27" name="Text 24"/>
          <p:cNvSpPr/>
          <p:nvPr/>
        </p:nvSpPr>
        <p:spPr>
          <a:xfrm>
            <a:off x="6995160" y="48188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855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995160" y="5166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concentration is a key-person risk: if any one counselor is unavailable, outreach capacity drops sharply.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Insights Into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Targeting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beyond India with campaigns in Pakistan, Kenya, and other growing markets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Ghana and Nigeria — already outproducing the entire U.S. domestic pipeline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Winter/Spring incentives to smooth the 65%+ Fall-term concentration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Counselor Engagement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423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Cross-train additional staff to reduce reliance on 3 counselors handling nearly all calls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30/60/90-day sequence to convert the 1,375 "Follow up" applicants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proactive transcript-reminder workflow at the point of application submission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 Outcomes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242316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program capacity and marketing ahead of its term-over-term doubling demand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Business Analytics selectivity as volume continues to lead all programs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Study Group ROI with a cost-per-enrolled-student analysis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analysis is honest about what it can't yet answer. These are the boundaries of this project, and where it could go next.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3591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8803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data is in-progress — only 607 admits recorded so far, so year-over-year trends understate the current cohort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outcomes (Is_Admitted) were 100% empty in this extract, limiting true conversion-rate analysis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Two-category Application Source field restricts deeper channel-level ROI comparison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reflects a single point-in-time export, not a live-refreshing connection to DePaul's CRM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376672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2A346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359152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28803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a live data source for automatic refresh instead of a static export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Is_Admitted populates, build a full funnel conversion-rate model from application to enrollment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cost-per-enrolled-student metric once Study Group spend data becomes available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geographic analysis to a rolling 12-month view as 2025/2026 data matures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Process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0992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30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missing-value analysis, duplicate detection, date standardization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85292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900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63040" y="3108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cleaning, DAX measures, four-page interactive dashboard build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99592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330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8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PPT / Docs/Sheets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63040" y="4251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insight reports, and presentation formatting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69480" y="1508760"/>
            <a:ext cx="434340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75438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589520" y="214884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7"/>
          <p:cNvSpPr/>
          <p:nvPr/>
        </p:nvSpPr>
        <p:spPr>
          <a:xfrm>
            <a:off x="75895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00100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CRM export (7,543 × 80)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735824" y="2441448"/>
            <a:ext cx="0" cy="256032"/>
          </a:xfrm>
          <a:prstGeom prst="line">
            <a:avLst/>
          </a:prstGeom>
          <a:noFill/>
          <a:ln w="19050">
            <a:solidFill>
              <a:srgbClr val="4A56A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89520" y="2715768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1"/>
          <p:cNvSpPr/>
          <p:nvPr/>
        </p:nvSpPr>
        <p:spPr>
          <a:xfrm>
            <a:off x="758952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01000" y="26883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&amp; data dictionary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735824" y="3008376"/>
            <a:ext cx="0" cy="256032"/>
          </a:xfrm>
          <a:prstGeom prst="line">
            <a:avLst/>
          </a:prstGeom>
          <a:noFill/>
          <a:ln w="19050">
            <a:solidFill>
              <a:srgbClr val="4A56A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89520" y="328269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5"/>
          <p:cNvSpPr/>
          <p:nvPr/>
        </p:nvSpPr>
        <p:spPr>
          <a:xfrm>
            <a:off x="7589520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001000" y="32552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cleaning (Python validated)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7735824" y="3575304"/>
            <a:ext cx="0" cy="256032"/>
          </a:xfrm>
          <a:prstGeom prst="line">
            <a:avLst/>
          </a:prstGeom>
          <a:noFill/>
          <a:ln w="19050">
            <a:solidFill>
              <a:srgbClr val="4A56A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589520" y="3849624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29"/>
          <p:cNvSpPr/>
          <p:nvPr/>
        </p:nvSpPr>
        <p:spPr>
          <a:xfrm>
            <a:off x="758952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001000" y="3822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table (4,981 × 14)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7735824" y="4142232"/>
            <a:ext cx="0" cy="256032"/>
          </a:xfrm>
          <a:prstGeom prst="line">
            <a:avLst/>
          </a:prstGeom>
          <a:noFill/>
          <a:ln w="19050">
            <a:solidFill>
              <a:srgbClr val="4A56A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589520" y="4416552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3"/>
          <p:cNvSpPr/>
          <p:nvPr/>
        </p:nvSpPr>
        <p:spPr>
          <a:xfrm>
            <a:off x="758952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800100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 + DAX measures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7735824" y="4709160"/>
            <a:ext cx="0" cy="256032"/>
          </a:xfrm>
          <a:prstGeom prst="line">
            <a:avLst/>
          </a:prstGeom>
          <a:noFill/>
          <a:ln w="19050">
            <a:solidFill>
              <a:srgbClr val="4A56A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589520" y="49834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2" name="Text 37"/>
          <p:cNvSpPr/>
          <p:nvPr/>
        </p:nvSpPr>
        <p:spPr>
          <a:xfrm>
            <a:off x="7589520" y="4983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001000" y="4956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DePaul University Applicant Analytics  |  SLU-0106-DVT Team-21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828800"/>
            <a:ext cx="3657600" cy="3657600"/>
          </a:xfrm>
          <a:prstGeom prst="ellipse">
            <a:avLst/>
          </a:prstGeom>
          <a:solidFill>
            <a:srgbClr val="232C7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943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" y="3794760"/>
            <a:ext cx="14630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069079"/>
            <a:ext cx="8229600" cy="980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link to our group presentation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https://drive.google.com/file/d/1HTHPi0kOmhothM8v2Y9X2Ts5rkGFRwa-/view?usp=sharing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Presenter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6035039"/>
            <a:ext cx="7315200" cy="82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SLU-0106-DVT  ·  Team 21  ·  DePaul University Applicant Analytics</a:t>
            </a:r>
            <a:endParaRPr lang="en-US" sz="14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1313</Words>
  <Application>Microsoft Office PowerPoint</Application>
  <PresentationFormat>Widescreen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DePaul Applicant Data — Internship Final Presentation</dc:title>
  <dc:subject>PptxGenJS Presentation</dc:subject>
  <dc:creator>Anita Modi</dc:creator>
  <cp:lastModifiedBy>poni yugusuk</cp:lastModifiedBy>
  <cp:revision>7</cp:revision>
  <dcterms:created xsi:type="dcterms:W3CDTF">2026-06-26T13:42:11Z</dcterms:created>
  <dcterms:modified xsi:type="dcterms:W3CDTF">2026-07-01T10:42:13Z</dcterms:modified>
</cp:coreProperties>
</file>